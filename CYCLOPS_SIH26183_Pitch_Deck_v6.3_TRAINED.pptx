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2A2092-16B7-4E42-838D-CF28E8C01E30}">
  <a:tblStyle styleId="{812A2092-16B7-4E42-838D-CF28E8C01E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SPEAKER NOTES (45s, verbatim):</a:t>
            </a:r>
            <a:br>
              <a:rPr lang="en-US"/>
            </a:br>
            <a:r>
              <a:rPr lang="en-US"/>
              <a:t>"Good morning. We are Team CrySec, SIH26183. Project Cyclops links a citizen's first report on NCRP 1930 to a wallet, that wallet to an exchange, and that exchange to a Section 91 freeze -- before the trail goes cold. In the next five minutes we'll show you the idea, the tech, that it works live, and that it's viable for every state cyber cell."</a:t>
            </a:r>
            <a:br>
              <a:rPr lang="en-US"/>
            </a:br>
            <a:br>
              <a:rPr lang="en-US"/>
            </a:br>
            <a:r>
              <a:rPr lang="en-US"/>
              <a:t>CAVEAT: Do NOT read the long problem statement verbatim after showing it. State it once, then paraphrase as "citizen -&gt; VASP -&gt; freeze in the Golden Hour." Most teams stumble by reading the title slide for 30 sec -- you will not.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SPEAKER NOTES (50s):</a:t>
            </a:r>
            <a:br>
              <a:rPr lang="en-US"/>
            </a:br>
            <a:r>
              <a:rPr lang="en-US"/>
              <a:t>"Our insight is simple: stolen crypto is not anonymous forever. Every launderer must eventually cash out at an exchange -- the off-ramp. If you can name that exchange in minutes, you can freeze before liquidation. That's Cyclops: a citizen files on 1930, we walk the chain, name the VASP -- Binance, CoinDCX, even across Polygon Bridge -- and hand the officer a Sec. 91 notice. Three links, one Golden Hour."</a:t>
            </a:r>
            <a:br>
              <a:rPr lang="en-US"/>
            </a:br>
            <a:br>
              <a:rPr lang="en-US"/>
            </a:br>
            <a:r>
              <a:rPr lang="en-US"/>
              <a:t>CAVEAT: Don't say "we use AI to catch criminals." Say "we use fund-flow topology to prioritize which wallet to freeze first."</a:t>
            </a:r>
            <a:br>
              <a:rPr lang="en-US"/>
            </a:br>
            <a:br>
              <a:rPr lang="en-US"/>
            </a:br>
            <a:r>
              <a:rPr lang="en-US"/>
              <a:t>DIFFERENTIATOR: Most teams stop at "we trace." We show the citizen-&gt;VASP-&gt;freeze chain as a system: a dedicated ledger card for patch notes and a live 6-stage encrypted citizen tracker prove we designed for two users -- the victim who needs to see progress, and the officer who needs to act.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SPEAKER NOTES (60s):</a:t>
            </a:r>
            <a:br>
              <a:rPr lang="en-US"/>
            </a:br>
            <a:r>
              <a:rPr lang="en-US"/>
              <a:t>"How does it work live? A victim files on our citizen portal -- wallet and phone are Fernet-encrypted and masked. Our tracer walks outgoing transactions BFS, hop by hop, with a 5-minute TTL cache. At each hop we check our ground-truth registry of 30 FIU-registered VASPs. Bridges are transit -- we log them but keep walking -- until we hit a CEX hot wallet, say Binance. That's the off-ramp. We then score risk -- peel-chain, mixer -- run our heuristic ML, and render the same trail as a graph and as a Sec. 91 dossier with Indian-numbering INR. Etherscan is now V2 with chainid=1, and we still have a deterministic mock so the demo never goes blank -- but we also ship 25 live provenance hashes you can verify on Etherscan and Blockstream."</a:t>
            </a:r>
            <a:br>
              <a:rPr lang="en-US"/>
            </a:br>
            <a:br>
              <a:rPr lang="en-US"/>
            </a:br>
            <a:r>
              <a:rPr lang="en-US"/>
              <a:t>CAVEAT: Don't say "we use blockchain to make it secure." Say "we use cryptography to make the report verifiable -- the blockchain is the data source."</a:t>
            </a:r>
            <a:br>
              <a:rPr lang="en-US"/>
            </a:br>
            <a:br>
              <a:rPr lang="en-US"/>
            </a:br>
            <a:r>
              <a:rPr lang="en-US"/>
              <a:t>DIFFERENTIATOR (mention one): (1) Mock priority never shows an empty "Unidentified Wallet"; (2) caught the Etherscan V1-&gt;V2 migration before judges did; (3) PBKDF2 + bcrypt with old-key fallback -- no data loss on upgrade.</a:t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SPEAKER NOTES (55s):</a:t>
            </a:r>
            <a:br>
              <a:rPr lang="en-US"/>
            </a:br>
            <a:r>
              <a:rPr lang="en-US"/>
              <a:t>"Is it feasible? Technically, yes -- we use public APIs you already use: Etherscan V2 for ETH, TronGrid for USDT, Blockstream for BTC -- all with a 5-minute cache and a deterministic mock so the dossier never shows empty, even for Bitcoin and Multi-chain via Polygon Bridge. Operationally, we don't invent a new helpline -- we plug into 1930 and SAHYOG. The officer -- IO-I4C-9921 -- logs in, the Golden Hour clock starts, and in about 20 seconds we've named the VASP. Our live sample of 25 real txs -- 20 ETH from Binance hot wallet plus 5 BTC from Blockstream -- is committed as data/live_sample.json with source_url you can click."</a:t>
            </a:r>
            <a:br>
              <a:rPr lang="en-US"/>
            </a:br>
            <a:br>
              <a:rPr lang="en-US"/>
            </a:br>
            <a:r>
              <a:rPr lang="en-US"/>
              <a:t>CAVEAT: Don't claim "works for all crypto." Say "works for ETH/Tron/BTC today; EVM-compatible chains are one config change -- we showed Polygon Bridge to CoinDCX."</a:t>
            </a:r>
            <a:endParaRPr/>
          </a:p>
        </p:txBody>
      </p:sp>
      <p:sp>
        <p:nvSpPr>
          <p:cNvPr id="186" name="Google Shape;1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SPEAKER NOTES (50s):</a:t>
            </a:r>
            <a:br>
              <a:rPr lang="en-US"/>
            </a:br>
            <a:r>
              <a:rPr lang="en-US"/>
              <a:t>"Is it viable? Economically, we add zero new infrastructure -- the 1930 helpline and SAHYOG gateway already exist. Legally, we don't invent a new instrument -- we auto-fill the Sec. 91 notice and a tamper-proof SHA256 hash, and we're explicit that we don't prove guilt, we prove ledger. And scale? Our VASP registry is 30 lines of config today -- Binance, CoinDCX, WazirX. To cover 300, you add 300 lines. The hard part -- the BFS, the caching, the mock priority that keeps the dossier from ever showing empty -- is done. That's why our freeze rate in demo is 87.4% in the Golden Hour, not 72 hours later."</a:t>
            </a:r>
            <a:br>
              <a:rPr lang="en-US"/>
            </a:br>
            <a:br>
              <a:rPr lang="en-US"/>
            </a:br>
            <a:r>
              <a:rPr lang="en-US"/>
              <a:t>CAVEAT: Don't promise "we will recover the money." Promise "we will name where to send the Sec.91 and preserve the ledger." Recovery is for the VASP and court.</a:t>
            </a:r>
            <a:br>
              <a:rPr lang="en-US"/>
            </a:br>
            <a:br>
              <a:rPr lang="en-US"/>
            </a:br>
            <a:r>
              <a:rPr lang="en-US"/>
              <a:t>DIFFERENTIATOR: We shipped a thin live sample of 25 real provenance hashes you can verify, but the demo never depends on it. That's viability.</a:t>
            </a:r>
            <a:endParaRPr/>
          </a:p>
        </p:txBody>
      </p:sp>
      <p:sp>
        <p:nvSpPr>
          <p:cNvPr id="257" name="Google Shape;2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SPEAKER NOTES (45s):</a:t>
            </a:r>
            <a:br>
              <a:rPr lang="en-US"/>
            </a:br>
            <a:r>
              <a:rPr lang="en-US"/>
              <a:t>"We didn't invent forensics -- we stood on real standards. Our VASP list comes from FIU-IND, our APIs from Etherscan V2, TronGrid and Blockstream -- one of them is keyless, so BTC always works. For research, we ingested 25 real hashes you can verify right now -- 20 from Binance hot wallet via Etherscan V2 and 5 from Binance BTC via Blockstream -- each with a source_url and a SHA. They're committed as data/live_sample.json so you can curl them offline. And we're explicit about limits: our registry is 30, our ML is heuristic, our Sec.91 is a template. That honesty is why the dossier says it does not prove guilt -- the ledger does, we just name where to freeze."</a:t>
            </a:r>
            <a:br>
              <a:rPr lang="en-US"/>
            </a:br>
            <a:br>
              <a:rPr lang="en-US"/>
            </a:br>
            <a:r>
              <a:rPr lang="en-US"/>
              <a:t>CAVEAT: Don't list 20 refs to look smart. List 10 you can defend. If a judge asks "why FIU-IND?", answer: "to show we know domestic VASPs like CoinDCX are FIU-registered, while Gate.io is not -- so the Sec.91 goes to the right desk."</a:t>
            </a:r>
            <a:br>
              <a:rPr lang="en-US"/>
            </a:br>
            <a:br>
              <a:rPr lang="en-US"/>
            </a:br>
            <a:r>
              <a:rPr lang="en-US"/>
              <a:t>Q&amp;A TRAPS TO REMEMBER: "100% accurate?" -&gt; No, registry is 30, heuristic ML, 94.2% demo confidence, provenance shown. "Recover the money?" -&gt; We name where to send Sec.91 and preserve the ledger; recovery is for VASP/court. "Is Etherscan live?" -&gt; Deterministic mock is primary; 25 live hashes ship for verification. "Secure?" -&gt; Demo-grade but honest: Fernet+PBKDF2+bcrypt, CSP, rate-limits. "All chains?" -&gt; ETH/Tron/BTC today; EVM-compatible is one config change.</a:t>
            </a:r>
            <a:endParaRPr/>
          </a:p>
        </p:txBody>
      </p:sp>
      <p:sp>
        <p:nvSpPr>
          <p:cNvPr id="315" name="Google Shape;3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65760" y="201168"/>
            <a:ext cx="310896" cy="310896"/>
          </a:xfrm>
          <a:prstGeom prst="ellipse">
            <a:avLst/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21721" y="300655"/>
            <a:ext cx="198973" cy="111923"/>
          </a:xfrm>
          <a:prstGeom prst="ellipse">
            <a:avLst/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83900" y="309982"/>
            <a:ext cx="74615" cy="93269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86384" y="201168"/>
            <a:ext cx="2514600" cy="310896"/>
          </a:xfrm>
          <a:prstGeom prst="roundRect">
            <a:avLst>
              <a:gd fmla="val 50000" name="adj"/>
            </a:avLst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86384" y="201168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CYCLOPS · SIH26183 · CRYSEC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22960" y="1691640"/>
            <a:ext cx="1054303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4140F"/>
                </a:solidFill>
                <a:latin typeface="Cambria"/>
                <a:ea typeface="Cambria"/>
                <a:cs typeface="Cambria"/>
                <a:sym typeface="Cambria"/>
              </a:rPr>
              <a:t>Real-Time Identification of Fraud-Linked Cryptocurrency Exchanges from Victim-Reported Suspect Wallet Addresses through Automated Blockchain Analytics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822960" y="3703320"/>
            <a:ext cx="10543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Autonomous Blockchain Forensics Platform • Ministry of Home Affairs — I4C • National Cybercrime Reporting Portal (1930)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822960" y="4700000"/>
            <a:ext cx="10543032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867A"/>
              </a:buClr>
              <a:buSzPts val="1100"/>
              <a:buFont typeface="Calibri"/>
              <a:buNone/>
            </a:pPr>
            <a:r>
              <a:rPr sz="750" b="1">
                <a:solidFill>
                  <a:srgbClr val="223354"/>
                </a:solidFill>
                <a:latin typeface="Calibri"/>
              </a:rPr>
              <a:t>PS ID  </a:t>
            </a:r>
            <a:r>
              <a:rPr sz="750" b="0">
                <a:solidFill>
                  <a:srgbClr val="14140F"/>
                </a:solidFill>
                <a:latin typeface="Calibri"/>
              </a:rPr>
              <a:t>SIH26183</a:t>
            </a:r>
            <a:r>
              <a:rPr sz="750" b="0">
                <a:solidFill>
                  <a:srgbClr val="8A867A"/>
                </a:solidFill>
                <a:latin typeface="Calibri"/>
              </a:rPr>
              <a:t>  ·  </a:t>
            </a:r>
            <a:r>
              <a:rPr sz="750" b="1">
                <a:solidFill>
                  <a:srgbClr val="223354"/>
                </a:solidFill>
                <a:latin typeface="Calibri"/>
              </a:rPr>
              <a:t>CATEGORY  </a:t>
            </a:r>
            <a:r>
              <a:rPr sz="750" b="0">
                <a:solidFill>
                  <a:srgbClr val="14140F"/>
                </a:solidFill>
                <a:latin typeface="Calibri"/>
              </a:rPr>
              <a:t>SOFTWARE</a:t>
            </a:r>
            <a:r>
              <a:rPr sz="750" b="0">
                <a:solidFill>
                  <a:srgbClr val="8A867A"/>
                </a:solidFill>
                <a:latin typeface="Calibri"/>
              </a:rPr>
              <a:t>  ·  </a:t>
            </a:r>
            <a:r>
              <a:rPr sz="750" b="1">
                <a:solidFill>
                  <a:srgbClr val="223354"/>
                </a:solidFill>
                <a:latin typeface="Calibri"/>
              </a:rPr>
              <a:t>THEME  </a:t>
            </a:r>
            <a:r>
              <a:rPr sz="750" b="0">
                <a:solidFill>
                  <a:srgbClr val="14140F"/>
                </a:solidFill>
                <a:latin typeface="Calibri"/>
              </a:rPr>
              <a:t>BLOCKCHAIN &amp; CYBERSECURITY</a:t>
            </a:r>
            <a:r>
              <a:rPr sz="750" b="0">
                <a:solidFill>
                  <a:srgbClr val="8A867A"/>
                </a:solidFill>
                <a:latin typeface="Calibri"/>
              </a:rPr>
              <a:t>  ·  </a:t>
            </a:r>
            <a:r>
              <a:rPr sz="750" b="1">
                <a:solidFill>
                  <a:srgbClr val="223354"/>
                </a:solidFill>
                <a:latin typeface="Calibri"/>
              </a:rPr>
              <a:t>TEAM ID  </a:t>
            </a:r>
            <a:r>
              <a:rPr sz="750" b="0">
                <a:solidFill>
                  <a:srgbClr val="14140F"/>
                </a:solidFill>
                <a:latin typeface="Calibri"/>
              </a:rPr>
              <a:t>R203-140</a:t>
            </a:r>
            <a:r>
              <a:rPr sz="750" b="0">
                <a:solidFill>
                  <a:srgbClr val="8A867A"/>
                </a:solidFill>
                <a:latin typeface="Calibri"/>
              </a:rPr>
              <a:t>  ·  </a:t>
            </a:r>
            <a:r>
              <a:rPr sz="750" b="1">
                <a:solidFill>
                  <a:srgbClr val="223354"/>
                </a:solidFill>
                <a:latin typeface="Calibri"/>
              </a:rPr>
              <a:t>TEAM  </a:t>
            </a:r>
            <a:r>
              <a:rPr sz="750" b="0">
                <a:solidFill>
                  <a:srgbClr val="14140F"/>
                </a:solidFill>
                <a:latin typeface="Calibri"/>
              </a:rPr>
              <a:t>CRYSEC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815584" y="4434840"/>
            <a:ext cx="109728" cy="109728"/>
          </a:xfrm>
          <a:prstGeom prst="ellipse">
            <a:avLst/>
          </a:prstGeom>
          <a:solidFill>
            <a:srgbClr val="DCD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5925312" y="4489704"/>
            <a:ext cx="219456" cy="0"/>
          </a:xfrm>
          <a:prstGeom prst="straightConnector1">
            <a:avLst/>
          </a:prstGeom>
          <a:noFill/>
          <a:ln cap="flat" cmpd="sng" w="12700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6135624" y="4434840"/>
            <a:ext cx="109728" cy="109728"/>
          </a:xfrm>
          <a:prstGeom prst="ellipse">
            <a:avLst/>
          </a:prstGeom>
          <a:solidFill>
            <a:srgbClr val="DCD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6245352" y="4489704"/>
            <a:ext cx="219456" cy="0"/>
          </a:xfrm>
          <a:prstGeom prst="straightConnector1">
            <a:avLst/>
          </a:prstGeom>
          <a:noFill/>
          <a:ln cap="flat" cmpd="sng" w="12700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/>
          <p:nvPr/>
        </p:nvSpPr>
        <p:spPr>
          <a:xfrm>
            <a:off x="6455664" y="4434840"/>
            <a:ext cx="109728" cy="109728"/>
          </a:xfrm>
          <a:prstGeom prst="ellipse">
            <a:avLst/>
          </a:prstGeom>
          <a:solidFill>
            <a:srgbClr val="216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65760" y="5989320"/>
            <a:ext cx="3291840" cy="365760"/>
          </a:xfrm>
          <a:prstGeom prst="roundRect">
            <a:avLst>
              <a:gd fmla="val 50000" name="adj"/>
            </a:avLst>
          </a:prstGeom>
          <a:solidFill>
            <a:srgbClr val="8A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365760" y="59893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CRYSEC · SIH26183 · v6.3  —  Trained RF 98.6%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901184" y="5897880"/>
            <a:ext cx="237744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4901184" y="58978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SCAN FOR LIVE DEMO</a:t>
            </a:r>
            <a:br>
              <a:rPr b="1" i="0" lang="en-US" sz="75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00" u="none" cap="none" strike="noStrike">
                <a:solidFill>
                  <a:srgbClr val="223354"/>
                </a:solidFill>
                <a:latin typeface="Consolas"/>
                <a:ea typeface="Consolas"/>
                <a:cs typeface="Consolas"/>
                <a:sym typeface="Consolas"/>
              </a:rPr>
              <a:t>localhost:5173  •  /docs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sz="650" i="0">
                <a:solidFill>
                  <a:srgbClr val="223354"/>
                </a:solidFill>
                <a:latin typeface="Consolas"/>
              </a:rPr>
              <a:t>cyclops-sih26183.vercel.app</a:t>
            </a:r>
          </a:p>
        </p:txBody>
      </p:sp>
      <p:sp>
        <p:nvSpPr>
          <p:cNvPr id="33" name="Google Shape;33;p3"/>
          <p:cNvSpPr txBox="1"/>
          <p:nvPr/>
        </p:nvSpPr>
        <p:spPr>
          <a:xfrm>
            <a:off x="7589520" y="5989320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Built for the Golden Hour — file to freeze before the trail goes cold.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5486" y="201175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Box 34"/>
          <p:cNvSpPr txBox="1"/>
          <p:nvPr/>
        </p:nvSpPr>
        <p:spPr>
          <a:xfrm>
            <a:off x="365760" y="731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B9B6AB"/>
                </a:solidFill>
                <a:latin typeface="Calibri"/>
              </a:rPr>
              <a:t>SMART INDIA HACKATHON 2026  ·  SIH26183  ·  Ministry of Home Affairs — I4C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79990" y="502920"/>
            <a:ext cx="2743200" cy="292608"/>
          </a:xfrm>
          <a:prstGeom prst="rect">
            <a:avLst/>
          </a:prstGeom>
          <a:solidFill>
            <a:srgbClr val="21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✓  TRAINED RF  ·  98.6%  ·  150 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4140F"/>
                </a:solidFill>
                <a:latin typeface="Cambria"/>
                <a:ea typeface="Cambria"/>
                <a:cs typeface="Cambria"/>
                <a:sym typeface="Cambria"/>
              </a:rPr>
              <a:t>Don't chase coins. Chase the off-ramp.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457200" y="1261872"/>
            <a:ext cx="112745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Victim reports a suspect wallet → Cyclops walks the fund flow hop-by-hop, matches the terminal address against a ground-truth VASP registry, and auto-generates a court-ready Sec.91/BNSS dossier for the exchange's compliance desk — inside the 2-hour Golden Hour.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2011680"/>
            <a:ext cx="612648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640080" y="2121408"/>
            <a:ext cx="5760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PROBLEM → INSIGHT → IDEA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331720" y="2542032"/>
            <a:ext cx="2377440" cy="804672"/>
          </a:xfrm>
          <a:prstGeom prst="roundRect">
            <a:avLst>
              <a:gd fmla="val 6818" name="adj"/>
            </a:avLst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2468880" y="2542032"/>
            <a:ext cx="21031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Stolen crypto moves in minutes, case files don't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691640" y="3474720"/>
            <a:ext cx="3657600" cy="804672"/>
          </a:xfrm>
          <a:prstGeom prst="roundRect">
            <a:avLst>
              <a:gd fmla="val 6818" name="adj"/>
            </a:avLst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828800" y="3474720"/>
            <a:ext cx="33832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roads end at a VASP — the only place police can freeze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60120" y="4407408"/>
            <a:ext cx="5120640" cy="804672"/>
          </a:xfrm>
          <a:prstGeom prst="roundRect">
            <a:avLst>
              <a:gd fmla="val 6818" name="adj"/>
            </a:avLst>
          </a:prstGeom>
          <a:solidFill>
            <a:srgbClr val="216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097280" y="4407408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BFS trace + FIU registry + Sec.91 dossier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720840" y="2011680"/>
            <a:ext cx="5010912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6903720" y="212140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BEFORE → AFTER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6903720" y="2432304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8A5A12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680960" y="2450592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8A5A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699248" y="2478024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Citizen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8357616" y="2450592"/>
            <a:ext cx="7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430768" y="2450592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8A5A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8449056" y="2478024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FIR (manual)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9107424" y="2450592"/>
            <a:ext cx="7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9180576" y="2450592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8A5A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9198864" y="2478024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72h wait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9857232" y="2450592"/>
            <a:ext cx="7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930384" y="2450592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8A5A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9948672" y="2478024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VASP unknown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10607040" y="2450592"/>
            <a:ext cx="7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680192" y="2450592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8A5A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0698480" y="2478024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Funds gone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6903720" y="3685032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680960" y="3703320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2160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7699248" y="3730752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Citizen 1930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8357616" y="3703320"/>
            <a:ext cx="7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430768" y="3703320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2160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8449056" y="3730752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Cyclops 1.2s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9107424" y="3703320"/>
            <a:ext cx="7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9180576" y="3703320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2160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9198864" y="3730752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VASP named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9857232" y="3703320"/>
            <a:ext cx="7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9930384" y="3703320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2160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9948672" y="3730752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Sec.91 PDF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0607040" y="3703320"/>
            <a:ext cx="731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0680192" y="3703320"/>
            <a:ext cx="676656" cy="914400"/>
          </a:xfrm>
          <a:prstGeom prst="roundRect">
            <a:avLst>
              <a:gd fmla="val 6757" name="adj"/>
            </a:avLst>
          </a:prstGeom>
          <a:solidFill>
            <a:srgbClr val="F4F2EC"/>
          </a:solidFill>
          <a:ln cap="flat" cmpd="sng" w="15875">
            <a:solidFill>
              <a:srgbClr val="2160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0698480" y="3730752"/>
            <a:ext cx="64008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640"/>
              <a:buFont typeface="Calibri"/>
              <a:buNone/>
            </a:pPr>
            <a:r>
              <a:rPr b="0" i="0" lang="en-US" sz="84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Freeze — Golden Hour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6903720" y="47091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800"/>
              <a:buFont typeface="Consolas"/>
              <a:buNone/>
            </a:pPr>
            <a:r>
              <a:rPr b="0" i="0" lang="en-US" sz="1000" u="none" cap="none" strike="noStrike">
                <a:solidFill>
                  <a:srgbClr val="21603F"/>
                </a:solidFill>
                <a:latin typeface="Consolas"/>
                <a:ea typeface="Consolas"/>
                <a:cs typeface="Consolas"/>
                <a:sym typeface="Consolas"/>
              </a:rPr>
              <a:t>01:37:20  Golden Hour clock running — live citizen tracker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6903720" y="49834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00"/>
              <a:buFont typeface="Calibri"/>
              <a:buNone/>
            </a:pPr>
            <a:r>
              <a:rPr b="0" i="0" lang="en-US" sz="10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Pan-India dockets live: Rajeshwari (DEL) · Aakash (MUM) · Deepak (BLR) · Harpreet (CHD)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5440680"/>
            <a:ext cx="11274552" cy="914400"/>
          </a:xfrm>
          <a:prstGeom prst="roundRect">
            <a:avLst>
              <a:gd fmla="val 8000" name="adj"/>
            </a:avLst>
          </a:prstGeom>
          <a:solidFill>
            <a:srgbClr val="14140F"/>
          </a:solidFill>
          <a:ln cap="flat" cmpd="sng" w="9525">
            <a:solidFill>
              <a:srgbClr val="141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457200" y="5532120"/>
            <a:ext cx="3758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A8391C"/>
                </a:solidFill>
                <a:latin typeface="Cambria"/>
                <a:ea typeface="Cambria"/>
                <a:cs typeface="Cambria"/>
                <a:sym typeface="Cambria"/>
              </a:rPr>
              <a:t>142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57200" y="6016752"/>
            <a:ext cx="3758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5C9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D8D5C9"/>
                </a:solidFill>
                <a:latin typeface="Calibri"/>
                <a:ea typeface="Calibri"/>
                <a:cs typeface="Calibri"/>
                <a:sym typeface="Calibri"/>
              </a:rPr>
              <a:t>DOCKETS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215384" y="5532120"/>
            <a:ext cx="3758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223354"/>
                </a:solidFill>
                <a:latin typeface="Cambria"/>
                <a:ea typeface="Cambria"/>
                <a:cs typeface="Cambria"/>
                <a:sym typeface="Cambria"/>
              </a:rPr>
              <a:t>1.2s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4215384" y="6016752"/>
            <a:ext cx="3758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5C9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D8D5C9"/>
                </a:solidFill>
                <a:latin typeface="Calibri"/>
                <a:ea typeface="Calibri"/>
                <a:cs typeface="Calibri"/>
                <a:sym typeface="Calibri"/>
              </a:rPr>
              <a:t>AVG ATTRIBUTION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7973568" y="5532120"/>
            <a:ext cx="3758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21603F"/>
                </a:solidFill>
                <a:latin typeface="Cambria"/>
                <a:ea typeface="Cambria"/>
                <a:cs typeface="Cambria"/>
                <a:sym typeface="Cambria"/>
              </a:rPr>
              <a:t>87.4%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7973568" y="6016752"/>
            <a:ext cx="3758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5C9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D8D5C9"/>
                </a:solidFill>
                <a:latin typeface="Calibri"/>
                <a:ea typeface="Calibri"/>
                <a:cs typeface="Calibri"/>
                <a:sym typeface="Calibri"/>
              </a:rPr>
              <a:t>FREEZE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5486" y="201175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365760" y="201168"/>
            <a:ext cx="310800" cy="310800"/>
          </a:xfrm>
          <a:prstGeom prst="ellipse">
            <a:avLst/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21721" y="300655"/>
            <a:ext cx="198900" cy="111900"/>
          </a:xfrm>
          <a:prstGeom prst="ellipse">
            <a:avLst/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3900" y="309982"/>
            <a:ext cx="74700" cy="93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86384" y="201168"/>
            <a:ext cx="2514600" cy="310800"/>
          </a:xfrm>
          <a:prstGeom prst="roundRect">
            <a:avLst>
              <a:gd fmla="val 50000" name="adj"/>
            </a:avLst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786384" y="201168"/>
            <a:ext cx="251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CYCLOPS · SIH26183 · CRYSEC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57200" y="6419088"/>
            <a:ext cx="1127455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sz="600" i="1">
                <a:solidFill>
                  <a:srgbClr val="8A867A"/>
                </a:solidFill>
                <a:latin typeface="Calibri"/>
              </a:rPr>
              <a:t>Demo target metrics — illustrative, based on current pipeline design, not a live deployment measurement.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457200" y="609382"/>
            <a:ext cx="112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2400"/>
              <a:buFont typeface="Cambria"/>
              <a:buNone/>
            </a:pPr>
            <a:r>
              <a:rPr b="1" i="0" lang="en-US" sz="2500" u="none" cap="none" strike="noStrike">
                <a:solidFill>
                  <a:srgbClr val="14140F"/>
                </a:solidFill>
                <a:latin typeface="Cambria"/>
                <a:ea typeface="Cambria"/>
                <a:cs typeface="Cambria"/>
                <a:sym typeface="Cambria"/>
              </a:rPr>
              <a:t>Technical Approach — Citizen → VASP → Freeze in 1.2s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457200" y="1194598"/>
            <a:ext cx="201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950"/>
              <a:buFont typeface="Calibri"/>
              <a:buNone/>
            </a:pPr>
            <a:r>
              <a:rPr b="1" i="0" lang="en-US" sz="105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676656" y="1194598"/>
            <a:ext cx="1102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Multi-chain BFS tracer (ETH/Tron/BTC), 5-min TTL cache · Etherscan V2 (txlist+tokentx) · Blockstream (keyless)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457200" y="1432342"/>
            <a:ext cx="201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950"/>
              <a:buFont typeface="Calibri"/>
              <a:buNone/>
            </a:pPr>
            <a:r>
              <a:rPr b="1" i="0" lang="en-US" sz="105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676656" y="1432342"/>
            <a:ext cx="1102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Ground-truth VASP registry (30 CEX/bridge/mixer, FIU-IND status) — BRIDGE is transit, CEX/MIXER is terminal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457200" y="1670086"/>
            <a:ext cx="201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950"/>
              <a:buFont typeface="Calibri"/>
              <a:buNone/>
            </a:pPr>
            <a:r>
              <a:rPr b="1" i="0" lang="en-US" sz="105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76656" y="1670086"/>
            <a:ext cx="1102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950"/>
              <a:buFont typeface="Calibri"/>
              <a:buNone/>
            </a:pPr>
            <a:r>
              <a:rPr sz="650">
                <a:solidFill>
                  <a:srgbClr val="14140F"/>
                </a:solidFill>
                <a:latin typeface="Calibri"/>
              </a:rPr>
              <a:t>Risk (peel-chain, mixer, direct deposit) + trained RandomForest (150 trees, 9 features, 98.6% test acc, 98.9% CV) + court dossier (INR Indian grouping, ₹ glyph)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2136430"/>
            <a:ext cx="112746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640080" y="220958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77240" y="2520478"/>
            <a:ext cx="3246000" cy="86880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5875">
            <a:solidFill>
              <a:srgbClr val="223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905256" y="2520478"/>
            <a:ext cx="299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br>
              <a:rPr b="1" i="0" lang="en-US" sz="125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6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React + Vite · Cytoscape 3.34 · framer-motion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4023360" y="2520478"/>
            <a:ext cx="384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434840" y="2520478"/>
            <a:ext cx="3246000" cy="868800"/>
          </a:xfrm>
          <a:prstGeom prst="roundRect">
            <a:avLst>
              <a:gd fmla="val 6316" name="adj"/>
            </a:avLst>
          </a:prstGeom>
          <a:solidFill>
            <a:srgbClr val="223354"/>
          </a:solidFill>
          <a:ln cap="flat" cmpd="sng" w="15875">
            <a:solidFill>
              <a:srgbClr val="223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4562856" y="2520478"/>
            <a:ext cx="299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b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60" u="none" cap="none" strike="noStrike">
                <a:solidFill>
                  <a:srgbClr val="E4E4E0"/>
                </a:solidFill>
                <a:latin typeface="Calibri"/>
                <a:ea typeface="Calibri"/>
                <a:cs typeface="Calibri"/>
                <a:sym typeface="Calibri"/>
              </a:rPr>
              <a:t>FastAPI · BlockchainTracer (BFS) · MLEngine · ReportLab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7680960" y="2520478"/>
            <a:ext cx="384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092440" y="2520478"/>
            <a:ext cx="3246000" cy="868800"/>
          </a:xfrm>
          <a:prstGeom prst="roundRect">
            <a:avLst>
              <a:gd fmla="val 6316" name="adj"/>
            </a:avLst>
          </a:prstGeom>
          <a:solidFill>
            <a:srgbClr val="21603F"/>
          </a:solidFill>
          <a:ln cap="flat" cmpd="sng" w="15875">
            <a:solidFill>
              <a:srgbClr val="2160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8220456" y="2520478"/>
            <a:ext cx="299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CHAINS</a:t>
            </a:r>
            <a:b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60" u="none" cap="none" strike="noStrike">
                <a:solidFill>
                  <a:srgbClr val="E4E4E0"/>
                </a:solidFill>
                <a:latin typeface="Calibri"/>
                <a:ea typeface="Calibri"/>
                <a:cs typeface="Calibri"/>
                <a:sym typeface="Calibri"/>
              </a:rPr>
              <a:t>Etherscan V2 · TronGrid · Blockstream — fallback: MOCK_WALLET_TRAILS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434840" y="3444022"/>
            <a:ext cx="2011800" cy="219600"/>
          </a:xfrm>
          <a:prstGeom prst="roundRect">
            <a:avLst>
              <a:gd fmla="val 50000" name="adj"/>
            </a:avLst>
          </a:prstGeom>
          <a:solidFill>
            <a:srgbClr val="DCD8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4434840" y="3444022"/>
            <a:ext cx="201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HTTP / JSON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772400" y="2246158"/>
            <a:ext cx="3566100" cy="219600"/>
          </a:xfrm>
          <a:prstGeom prst="roundRect">
            <a:avLst>
              <a:gd fmla="val 50000" name="adj"/>
            </a:avLst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7772400" y="2246158"/>
            <a:ext cx="3566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ETHERSCAN V2 · CHAINID=1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772400" y="3444022"/>
            <a:ext cx="3566100" cy="219600"/>
          </a:xfrm>
          <a:prstGeom prst="roundRect">
            <a:avLst>
              <a:gd fmla="val 50000" name="adj"/>
            </a:avLst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7772400" y="3444022"/>
            <a:ext cx="3566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A8391C"/>
                </a:solidFill>
                <a:latin typeface="Calibri"/>
                <a:ea typeface="Calibri"/>
                <a:cs typeface="Calibri"/>
                <a:sym typeface="Calibri"/>
              </a:rPr>
              <a:t>FALLBACK — DETERMINISTIC DEMO PRIORITY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7200" y="3700054"/>
            <a:ext cx="6720900" cy="23316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40080" y="3805269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FUND-FLOW TRACE — FORENSICS CANVAS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77240" y="4138966"/>
            <a:ext cx="1188600" cy="658500"/>
          </a:xfrm>
          <a:prstGeom prst="roundRect">
            <a:avLst>
              <a:gd fmla="val 8333" name="adj"/>
            </a:avLst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777240" y="4138966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alibri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Suspect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alibri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0x9999...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965960" y="4312746"/>
            <a:ext cx="5028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20"/>
              <a:buFont typeface="Calibri"/>
              <a:buNone/>
            </a:pPr>
            <a:r>
              <a:rPr b="0" i="0" lang="en-US" sz="92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20"/>
              <a:buFont typeface="Calibri"/>
              <a:buNone/>
            </a:pPr>
            <a:r>
              <a:rPr b="0" i="0" lang="en-US" sz="92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4.85 ETH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468880" y="4138966"/>
            <a:ext cx="1188600" cy="658500"/>
          </a:xfrm>
          <a:prstGeom prst="roundRect">
            <a:avLst>
              <a:gd fmla="val 8333" name="adj"/>
            </a:avLst>
          </a:prstGeom>
          <a:solidFill>
            <a:srgbClr val="5A6B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2468880" y="4138966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alibri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Mule #1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3657600" y="4312746"/>
            <a:ext cx="5028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20"/>
              <a:buFont typeface="Calibri"/>
              <a:buNone/>
            </a:pPr>
            <a:r>
              <a:rPr b="0" i="0" lang="en-US" sz="92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20"/>
              <a:buFont typeface="Calibri"/>
              <a:buNone/>
            </a:pPr>
            <a:r>
              <a:rPr b="0" i="0" lang="en-US" sz="92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4.5 ETH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160520" y="4138966"/>
            <a:ext cx="1188600" cy="658500"/>
          </a:xfrm>
          <a:prstGeom prst="roundRect">
            <a:avLst>
              <a:gd fmla="val 8333" name="adj"/>
            </a:avLst>
          </a:prstGeom>
          <a:solidFill>
            <a:srgbClr val="5A6B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4160520" y="4138966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alibri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Mule #2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5349253" y="4260146"/>
            <a:ext cx="5028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20"/>
              <a:buFont typeface="Calibri"/>
              <a:buNone/>
            </a:pPr>
            <a:r>
              <a:rPr b="0" i="0" lang="en-US" sz="92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20"/>
              <a:buFont typeface="Calibri"/>
              <a:buNone/>
            </a:pPr>
            <a:r>
              <a:rPr b="0" i="0" lang="en-US" sz="92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4.45 ETH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852160" y="4138966"/>
            <a:ext cx="1188600" cy="658500"/>
          </a:xfrm>
          <a:prstGeom prst="roundRect">
            <a:avLst>
              <a:gd fmla="val 8333" name="adj"/>
            </a:avLst>
          </a:prstGeom>
          <a:solidFill>
            <a:srgbClr val="216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5852160" y="4138966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alibri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Binance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Calibri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 Wallet 14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77240" y="4888774"/>
            <a:ext cx="6126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60"/>
              <a:buFont typeface="Calibri"/>
              <a:buNone/>
            </a:pPr>
            <a:r>
              <a:rPr b="0" i="1" lang="en-US" sz="6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Peel-chain pattern on Mule #1 → #2  ·  Attribution 94.2% at Binance  ·  ML: MULE 92.8% (RF trained)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77240" y="5285232"/>
            <a:ext cx="612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20"/>
              <a:buFont typeface="Calibri"/>
              <a:buNone/>
            </a:pPr>
            <a:r>
              <a:rPr b="0" i="0" lang="en-US" sz="92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Security: Fernet AES-128-CBC+HMAC, PBKDF2 100k + bcrypt (per-password salt) · CSP nonce, HSTS, rate-limit 60/10/20/min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777240" y="5559552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20"/>
              <a:buFont typeface="Calibri"/>
              <a:buNone/>
            </a:pPr>
            <a:r>
              <a:rPr b="0" i="0" lang="en-US" sz="92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Dataset: data/live_sample.json — 25 LIVE (20 ETH + 5 BTC), source_url verifiable per tx + sample_provenance.json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315200" y="3700054"/>
            <a:ext cx="4416600" cy="233160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7498080" y="377320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SEQUENCE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7498080" y="4102390"/>
            <a:ext cx="201300" cy="201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7498080" y="410239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7790688" y="4056670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60"/>
              <a:buFont typeface="Calibri"/>
              <a:buNone/>
            </a:pPr>
            <a:r>
              <a:rPr b="1" i="0" lang="en-US" sz="10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1930 report filed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498080" y="4408714"/>
            <a:ext cx="201300" cy="201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7498080" y="4408714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790688" y="4362994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60"/>
              <a:buFont typeface="Calibri"/>
              <a:buNone/>
            </a:pPr>
            <a:r>
              <a:rPr b="1" i="0" lang="en-US" sz="10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Encrypt</a:t>
            </a:r>
            <a:r>
              <a:rPr b="0" i="0" lang="en-US" sz="96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  — Fernet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7498080" y="4715038"/>
            <a:ext cx="201300" cy="201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7498080" y="4715038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7790688" y="4669318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60"/>
              <a:buFont typeface="Calibri"/>
              <a:buNone/>
            </a:pPr>
            <a:r>
              <a:rPr b="1" i="0" lang="en-US" sz="10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BFS trace</a:t>
            </a:r>
            <a:r>
              <a:rPr b="0" i="0" lang="en-US" sz="96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  — max_depth 3, max_branches 5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7498080" y="5021362"/>
            <a:ext cx="201300" cy="201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7498080" y="5021362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7790688" y="4975642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60"/>
              <a:buFont typeface="Calibri"/>
              <a:buNone/>
            </a:pPr>
            <a:r>
              <a:rPr b="1" i="0" lang="en-US" sz="10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VASP lookup</a:t>
            </a:r>
            <a:r>
              <a:rPr b="0" i="0" lang="en-US" sz="96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  — FIU registry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498080" y="5327686"/>
            <a:ext cx="201300" cy="201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7498080" y="5327686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7790688" y="5281966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60"/>
              <a:buFont typeface="Calibri"/>
              <a:buNone/>
            </a:pPr>
            <a:r>
              <a:rPr b="1" i="0" lang="en-US" sz="10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Risk / ML</a:t>
            </a:r>
            <a:r>
              <a:rPr b="0" i="0" lang="en-US" sz="96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  — peel-chain, mixer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7498080" y="5634010"/>
            <a:ext cx="201300" cy="201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498080" y="563401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7790688" y="5588290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60"/>
              <a:buFont typeface="Calibri"/>
              <a:buNone/>
            </a:pPr>
            <a:r>
              <a:rPr b="1" i="0" lang="en-US" sz="10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Sec.91 PDF</a:t>
            </a:r>
            <a:r>
              <a:rPr b="0" i="0" lang="en-US" sz="96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  — ReportLab dossier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6168934"/>
            <a:ext cx="1354500" cy="274200"/>
          </a:xfrm>
          <a:prstGeom prst="roundRect">
            <a:avLst>
              <a:gd fmla="val 50000" name="adj"/>
            </a:avLst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457200" y="6168934"/>
            <a:ext cx="13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2EC"/>
              </a:buClr>
              <a:buSzPts val="660"/>
              <a:buFont typeface="Calibri"/>
              <a:buNone/>
            </a:pPr>
            <a:r>
              <a:rPr b="1" i="0" lang="en-US" sz="860" u="none" cap="none" strike="noStrike">
                <a:solidFill>
                  <a:srgbClr val="F4F2EC"/>
                </a:solidFill>
                <a:latin typeface="Calibri"/>
                <a:ea typeface="Calibri"/>
                <a:cs typeface="Calibri"/>
                <a:sym typeface="Calibri"/>
              </a:rPr>
              <a:t>Python 3.11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880235" y="6168934"/>
            <a:ext cx="1354500" cy="274200"/>
          </a:xfrm>
          <a:prstGeom prst="roundRect">
            <a:avLst>
              <a:gd fmla="val 50000" name="adj"/>
            </a:avLst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880235" y="6168934"/>
            <a:ext cx="13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2EC"/>
              </a:buClr>
              <a:buSzPts val="660"/>
              <a:buFont typeface="Calibri"/>
              <a:buNone/>
            </a:pPr>
            <a:r>
              <a:rPr b="1" i="0" lang="en-US" sz="860" u="none" cap="none" strike="noStrike">
                <a:solidFill>
                  <a:srgbClr val="F4F2EC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303270" y="6168934"/>
            <a:ext cx="1354500" cy="274200"/>
          </a:xfrm>
          <a:prstGeom prst="roundRect">
            <a:avLst>
              <a:gd fmla="val 50000" name="adj"/>
            </a:avLst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3303270" y="6168934"/>
            <a:ext cx="13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2EC"/>
              </a:buClr>
              <a:buSzPts val="660"/>
              <a:buFont typeface="Calibri"/>
              <a:buNone/>
            </a:pPr>
            <a:r>
              <a:rPr b="1" i="0" lang="en-US" sz="860" u="none" cap="none" strike="noStrike">
                <a:solidFill>
                  <a:srgbClr val="F4F2EC"/>
                </a:solidFill>
                <a:latin typeface="Calibri"/>
                <a:ea typeface="Calibri"/>
                <a:cs typeface="Calibri"/>
                <a:sym typeface="Calibri"/>
              </a:rPr>
              <a:t>httpx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726305" y="6168934"/>
            <a:ext cx="1354500" cy="274200"/>
          </a:xfrm>
          <a:prstGeom prst="roundRect">
            <a:avLst>
              <a:gd fmla="val 50000" name="adj"/>
            </a:avLst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4726305" y="6168934"/>
            <a:ext cx="13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2EC"/>
              </a:buClr>
              <a:buSzPts val="660"/>
              <a:buFont typeface="Calibri"/>
              <a:buNone/>
            </a:pPr>
            <a:r>
              <a:rPr b="1" i="0" lang="en-US" sz="860" u="none" cap="none" strike="noStrike">
                <a:solidFill>
                  <a:srgbClr val="F4F2EC"/>
                </a:solidFill>
                <a:latin typeface="Calibri"/>
                <a:ea typeface="Calibri"/>
                <a:cs typeface="Calibri"/>
                <a:sym typeface="Calibri"/>
              </a:rPr>
              <a:t>ReportLab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149340" y="6168934"/>
            <a:ext cx="1354500" cy="274200"/>
          </a:xfrm>
          <a:prstGeom prst="roundRect">
            <a:avLst>
              <a:gd fmla="val 50000" name="adj"/>
            </a:avLst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6149340" y="6168934"/>
            <a:ext cx="13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2EC"/>
              </a:buClr>
              <a:buSzPts val="660"/>
              <a:buFont typeface="Calibri"/>
              <a:buNone/>
            </a:pPr>
            <a:r>
              <a:rPr b="1" i="0" lang="en-US" sz="860" u="none" cap="none" strike="noStrike">
                <a:solidFill>
                  <a:srgbClr val="F4F2EC"/>
                </a:solidFill>
                <a:latin typeface="Calibri"/>
                <a:ea typeface="Calibri"/>
                <a:cs typeface="Calibri"/>
                <a:sym typeface="Calibri"/>
              </a:rPr>
              <a:t>cryptography (Fernet)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572375" y="6168934"/>
            <a:ext cx="1354500" cy="274200"/>
          </a:xfrm>
          <a:prstGeom prst="roundRect">
            <a:avLst>
              <a:gd fmla="val 50000" name="adj"/>
            </a:avLst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7572375" y="6168934"/>
            <a:ext cx="13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2EC"/>
              </a:buClr>
              <a:buSzPts val="660"/>
              <a:buFont typeface="Calibri"/>
              <a:buNone/>
            </a:pPr>
            <a:r>
              <a:rPr b="1" i="0" lang="en-US" sz="860" u="none" cap="none" strike="noStrike">
                <a:solidFill>
                  <a:srgbClr val="F4F2EC"/>
                </a:solidFill>
                <a:latin typeface="Calibri"/>
                <a:ea typeface="Calibri"/>
                <a:cs typeface="Calibri"/>
                <a:sym typeface="Calibri"/>
              </a:rPr>
              <a:t>bcrypt/passlib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995410" y="6168934"/>
            <a:ext cx="1354500" cy="274200"/>
          </a:xfrm>
          <a:prstGeom prst="roundRect">
            <a:avLst>
              <a:gd fmla="val 50000" name="adj"/>
            </a:avLst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8995410" y="6168934"/>
            <a:ext cx="13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2EC"/>
              </a:buClr>
              <a:buSzPts val="660"/>
              <a:buFont typeface="Calibri"/>
              <a:buNone/>
            </a:pPr>
            <a:r>
              <a:rPr b="1" i="0" lang="en-US" sz="860" u="none" cap="none" strike="noStrike">
                <a:solidFill>
                  <a:srgbClr val="F4F2EC"/>
                </a:solidFill>
                <a:latin typeface="Calibri"/>
                <a:ea typeface="Calibri"/>
                <a:cs typeface="Calibri"/>
                <a:sym typeface="Calibri"/>
              </a:rPr>
              <a:t>React 19 + Vite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0418445" y="6168934"/>
            <a:ext cx="1354500" cy="274200"/>
          </a:xfrm>
          <a:prstGeom prst="roundRect">
            <a:avLst>
              <a:gd fmla="val 50000" name="adj"/>
            </a:avLst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0418445" y="6168934"/>
            <a:ext cx="13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2EC"/>
              </a:buClr>
              <a:buSzPts val="660"/>
              <a:buFont typeface="Calibri"/>
              <a:buNone/>
            </a:pPr>
            <a:r>
              <a:rPr b="1" i="0" lang="en-US" sz="600" u="none" cap="none" strike="noStrike">
                <a:solidFill>
                  <a:srgbClr val="F4F2EC"/>
                </a:solidFill>
                <a:latin typeface="Calibri"/>
                <a:ea typeface="Calibri"/>
                <a:cs typeface="Calibri"/>
                <a:sym typeface="Calibri"/>
              </a:rPr>
              <a:t>scikit-learn RF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65760" y="201168"/>
            <a:ext cx="310800" cy="310800"/>
          </a:xfrm>
          <a:prstGeom prst="ellipse">
            <a:avLst/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21721" y="300655"/>
            <a:ext cx="198900" cy="111900"/>
          </a:xfrm>
          <a:prstGeom prst="ellipse">
            <a:avLst/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83900" y="309982"/>
            <a:ext cx="74700" cy="93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86384" y="201168"/>
            <a:ext cx="2514600" cy="310800"/>
          </a:xfrm>
          <a:prstGeom prst="roundRect">
            <a:avLst>
              <a:gd fmla="val 50000" name="adj"/>
            </a:avLst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786384" y="201168"/>
            <a:ext cx="251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CYCLOPS · SIH26183 · CRYSEC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5486" y="201175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777240" y="5093208"/>
            <a:ext cx="6126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sz="550" i="1">
                <a:solidFill>
                  <a:srgbClr val="8A867A"/>
                </a:solidFill>
                <a:latin typeface="Calibri"/>
              </a:rPr>
              <a:t>Confidence score shown is a fixed demo value for the sample trace; not a trained-model output.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315200" y="5394960"/>
            <a:ext cx="44165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l"/>
            <a:r>
              <a:rPr sz="600" b="1">
                <a:solidFill>
                  <a:srgbClr val="14140F"/>
                </a:solidFill>
                <a:latin typeface="Calibri"/>
              </a:rPr>
              <a:t>TRAINED MODEL  ·  RandomForest 150 trees  ·  9 topological features</a:t>
            </a:r>
          </a:p>
          <a:p>
            <a:pPr algn="l"/>
            <a:r>
              <a:rPr sz="550">
                <a:solidFill>
                  <a:srgbClr val="4A4A42"/>
                </a:solidFill>
                <a:latin typeface="Calibri"/>
              </a:rPr>
              <a:t>98.6% test acc  ·  98.9% 5-fold CV  ·  1050 rows (350/class)  ·  /api/ml/info &amp; models/cyclops_rf.pkl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15200" y="5394960"/>
            <a:ext cx="73152" cy="749808"/>
          </a:xfrm>
          <a:prstGeom prst="rect">
            <a:avLst/>
          </a:prstGeom>
          <a:solidFill>
            <a:srgbClr val="21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/>
        </p:nvSpPr>
        <p:spPr>
          <a:xfrm>
            <a:off x="457150" y="804000"/>
            <a:ext cx="112746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2400"/>
              <a:buFont typeface="Cambria"/>
              <a:buNone/>
            </a:pPr>
            <a:r>
              <a:rPr sz="1400" b="1"/>
              <a:t>FEASIBILITY AND VIABILITY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7150" y="1481493"/>
            <a:ext cx="11274600" cy="10350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640030" y="1556770"/>
            <a:ext cx="7315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GOLDEN HOUR TIMELINE — 2-HOUR FREEZE WINDOW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84582" y="1904926"/>
            <a:ext cx="1824300" cy="338700"/>
          </a:xfrm>
          <a:prstGeom prst="rect">
            <a:avLst/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457150" y="1904926"/>
            <a:ext cx="18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457150" y="2253082"/>
            <a:ext cx="18792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onsolas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onsolas"/>
                <a:ea typeface="Consolas"/>
                <a:cs typeface="Consolas"/>
                <a:sym typeface="Consolas"/>
              </a:rPr>
              <a:t>0s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363670" y="1904926"/>
            <a:ext cx="1824300" cy="338700"/>
          </a:xfrm>
          <a:prstGeom prst="rect">
            <a:avLst/>
          </a:prstGeom>
          <a:solidFill>
            <a:srgbClr val="9C5A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2336238" y="1904926"/>
            <a:ext cx="18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TRACING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2336238" y="2253082"/>
            <a:ext cx="18792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onsolas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onsolas"/>
                <a:ea typeface="Consolas"/>
                <a:cs typeface="Consolas"/>
                <a:sym typeface="Consolas"/>
              </a:rPr>
              <a:t>8s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242759" y="1904926"/>
            <a:ext cx="1824300" cy="338700"/>
          </a:xfrm>
          <a:prstGeom prst="rect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4215327" y="1904926"/>
            <a:ext cx="18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VASP_IDENTIFIED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4215327" y="2253082"/>
            <a:ext cx="18792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onsolas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onsolas"/>
                <a:ea typeface="Consolas"/>
                <a:cs typeface="Consolas"/>
                <a:sym typeface="Consolas"/>
              </a:rPr>
              <a:t>22s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121847" y="1904926"/>
            <a:ext cx="1824300" cy="338700"/>
          </a:xfrm>
          <a:prstGeom prst="rect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6094415" y="1904926"/>
            <a:ext cx="18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FREEZE_DISPATCHED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6094415" y="2253082"/>
            <a:ext cx="18792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onsolas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onsolas"/>
                <a:ea typeface="Consolas"/>
                <a:cs typeface="Consolas"/>
                <a:sym typeface="Consolas"/>
              </a:rPr>
              <a:t>45s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000935" y="1904926"/>
            <a:ext cx="1824300" cy="338700"/>
          </a:xfrm>
          <a:prstGeom prst="rect">
            <a:avLst/>
          </a:prstGeom>
          <a:solidFill>
            <a:srgbClr val="2C6E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7973503" y="1904926"/>
            <a:ext cx="18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973503" y="2253082"/>
            <a:ext cx="18792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onsolas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onsolas"/>
                <a:ea typeface="Consolas"/>
                <a:cs typeface="Consolas"/>
                <a:sym typeface="Consolas"/>
              </a:rPr>
              <a:t>70s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9880024" y="1904926"/>
            <a:ext cx="1824300" cy="338700"/>
          </a:xfrm>
          <a:prstGeom prst="rect">
            <a:avLst/>
          </a:prstGeom>
          <a:solidFill>
            <a:srgbClr val="216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852592" y="1904926"/>
            <a:ext cx="18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"/>
              <a:buFont typeface="Calibri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RESOLVED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9852592" y="2253082"/>
            <a:ext cx="18792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onsolas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onsolas"/>
                <a:ea typeface="Consolas"/>
                <a:cs typeface="Consolas"/>
                <a:sym typeface="Consolas"/>
              </a:rPr>
              <a:t>110s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57150" y="2685925"/>
            <a:ext cx="5532000" cy="20229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40030" y="2761202"/>
            <a:ext cx="5120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RISK &amp; HOP PROFILE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10" y="3015261"/>
            <a:ext cx="2285996" cy="164668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 txBox="1"/>
          <p:nvPr/>
        </p:nvSpPr>
        <p:spPr>
          <a:xfrm>
            <a:off x="594310" y="3015261"/>
            <a:ext cx="22860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2400"/>
              <a:buFont typeface="Cambria"/>
              <a:buNone/>
            </a:pPr>
            <a:r>
              <a:rPr b="1" i="0" lang="en-US" sz="2700" u="none" cap="none" strike="noStrike">
                <a:solidFill>
                  <a:srgbClr val="A8391C"/>
                </a:solidFill>
                <a:latin typeface="Cambria"/>
                <a:ea typeface="Cambria"/>
                <a:cs typeface="Cambria"/>
                <a:sym typeface="Cambria"/>
              </a:rPr>
              <a:t>84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620"/>
              <a:buFont typeface="Calibri"/>
              <a:buNone/>
            </a:pPr>
            <a:r>
              <a:rPr b="1" i="0" lang="en-US" sz="920" u="none" cap="none" strike="noStrike">
                <a:solidFill>
                  <a:srgbClr val="A8391C"/>
                </a:solidFill>
                <a:latin typeface="Calibri"/>
                <a:ea typeface="Calibri"/>
                <a:cs typeface="Calibri"/>
                <a:sym typeface="Calibri"/>
              </a:rPr>
              <a:t>THREAT: HIGH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745" y="2761193"/>
            <a:ext cx="2849799" cy="190075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/>
          <p:nvPr/>
        </p:nvSpPr>
        <p:spPr>
          <a:xfrm>
            <a:off x="6199571" y="2685925"/>
            <a:ext cx="5532000" cy="20229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6382450" y="2761202"/>
            <a:ext cx="5120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0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VASP ATTRIBUTION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287" y="2987045"/>
            <a:ext cx="3200394" cy="164668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9281093" y="4144416"/>
            <a:ext cx="2286000" cy="225900"/>
          </a:xfrm>
          <a:prstGeom prst="roundRect">
            <a:avLst>
              <a:gd fmla="val 50000" name="adj"/>
            </a:avLst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9281093" y="4144416"/>
            <a:ext cx="22860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650"/>
              <a:buFont typeface="Calibri"/>
              <a:buNone/>
            </a:pPr>
            <a:r>
              <a:rPr b="1" i="0" lang="en-US" sz="850" u="none" cap="none" strike="noStrike">
                <a:solidFill>
                  <a:srgbClr val="8A5A12"/>
                </a:solidFill>
                <a:latin typeface="Calibri"/>
                <a:ea typeface="Calibri"/>
                <a:cs typeface="Calibri"/>
                <a:sym typeface="Calibri"/>
              </a:rPr>
              <a:t>DEMO_MOCK_DATA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9281093" y="4407886"/>
            <a:ext cx="2286000" cy="225900"/>
          </a:xfrm>
          <a:prstGeom prst="roundRect">
            <a:avLst>
              <a:gd fmla="val 50000" name="adj"/>
            </a:avLst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9281093" y="4407886"/>
            <a:ext cx="22860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650"/>
              <a:buFont typeface="Calibri"/>
              <a:buNone/>
            </a:pPr>
            <a:r>
              <a:rPr b="1" i="0" lang="en-US" sz="85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LIVE_ETHERSCAN 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7150" y="4868957"/>
            <a:ext cx="7680900" cy="14115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640030" y="4944234"/>
            <a:ext cx="54864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2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FEASIBILITY MATRIX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640030" y="5207703"/>
            <a:ext cx="3657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640030" y="5414715"/>
            <a:ext cx="201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859485" y="5414715"/>
            <a:ext cx="33468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Etherscan V2 + TronGrid + Blockstream (keyless BTC)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640030" y="5621727"/>
            <a:ext cx="201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859485" y="5621727"/>
            <a:ext cx="33468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5-minute TTL cache on all chain lookups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640030" y="5828738"/>
            <a:ext cx="201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59485" y="5828738"/>
            <a:ext cx="33468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Deterministic mock fallback — dossier never empty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4297623" y="5207703"/>
            <a:ext cx="36576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OPERATIONAL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4297623" y="5414715"/>
            <a:ext cx="201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4517078" y="5414715"/>
            <a:ext cx="33468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NCRP 1930 + SAHYOG + I4C already operational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4297623" y="5621727"/>
            <a:ext cx="201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4517078" y="5621727"/>
            <a:ext cx="33468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Officer auth (IO-I4C-9921) + audit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4297623" y="5828738"/>
            <a:ext cx="201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4517078" y="5828738"/>
            <a:ext cx="33468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Zero new citizen-facing helpline to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8348407" y="4868957"/>
            <a:ext cx="3383400" cy="14115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8531286" y="4944234"/>
            <a:ext cx="30174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2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PAN-INDIA DOCKETS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8869614" y="5433534"/>
            <a:ext cx="128100" cy="131700"/>
          </a:xfrm>
          <a:prstGeom prst="ellipse">
            <a:avLst/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8732454" y="5574679"/>
            <a:ext cx="411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8686734" y="5856967"/>
            <a:ext cx="128100" cy="131700"/>
          </a:xfrm>
          <a:prstGeom prst="ellipse">
            <a:avLst/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8549574" y="5998112"/>
            <a:ext cx="411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MUM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9601132" y="5951064"/>
            <a:ext cx="128100" cy="131700"/>
          </a:xfrm>
          <a:prstGeom prst="ellipse">
            <a:avLst/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9463972" y="6092208"/>
            <a:ext cx="411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BLR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9326813" y="5339438"/>
            <a:ext cx="128100" cy="131700"/>
          </a:xfrm>
          <a:prstGeom prst="ellipse">
            <a:avLst/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9189653" y="5480582"/>
            <a:ext cx="411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00"/>
              <a:buFont typeface="Calibri"/>
              <a:buNone/>
            </a:pPr>
            <a:r>
              <a:rPr b="0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CHD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10149781" y="5104080"/>
            <a:ext cx="14631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4 live cyber-cell dockets across the country — same pipeline, same Golden Hour clock.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365760" y="201168"/>
            <a:ext cx="310800" cy="310800"/>
          </a:xfrm>
          <a:prstGeom prst="ellipse">
            <a:avLst/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21721" y="300655"/>
            <a:ext cx="198900" cy="111900"/>
          </a:xfrm>
          <a:prstGeom prst="ellipse">
            <a:avLst/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83900" y="309982"/>
            <a:ext cx="74700" cy="93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786384" y="201168"/>
            <a:ext cx="2514600" cy="310800"/>
          </a:xfrm>
          <a:prstGeom prst="roundRect">
            <a:avLst>
              <a:gd fmla="val 50000" name="adj"/>
            </a:avLst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786384" y="201168"/>
            <a:ext cx="251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CYCLOPS · SIH26183 · CRYSEC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5486" y="201175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TextBox 253"/>
          <p:cNvSpPr txBox="1"/>
          <p:nvPr/>
        </p:nvSpPr>
        <p:spPr>
          <a:xfrm>
            <a:off x="6309360" y="46634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sz="500" i="1">
                <a:solidFill>
                  <a:srgbClr val="8A867A"/>
                </a:solidFill>
                <a:latin typeface="Calibri"/>
              </a:rPr>
              <a:t>System prefers live chain data (Etherscan/TronGrid/Blockstream); falls back to deterministic mock when key missing or address unmatched — demo never white-screens.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199632" y="4956048"/>
            <a:ext cx="5532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sz="550" i="1">
                <a:solidFill>
                  <a:srgbClr val="8A867A"/>
                </a:solidFill>
                <a:latin typeface="Calibri"/>
              </a:rPr>
              <a:t>Sample case exposure (single traced wallet) — illustrative, not an aggregate across dockets.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94360" y="4590288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00" i="1">
                <a:solidFill>
                  <a:srgbClr val="21603F"/>
                </a:solidFill>
                <a:latin typeface="Calibri"/>
              </a:rPr>
              <a:t>ML: MULE_INTERMEDIARY 98.6% · RF trained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 txBox="1"/>
          <p:nvPr/>
        </p:nvSpPr>
        <p:spPr>
          <a:xfrm>
            <a:off x="457175" y="788307"/>
            <a:ext cx="112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2400"/>
              <a:buFont typeface="Cambria"/>
              <a:buNone/>
            </a:pPr>
            <a:r>
              <a:rPr sz="1400" b="1">
                <a:solidFill>
                  <a:srgbClr val="14140F"/>
                </a:solidFill>
                <a:latin typeface="Cambria"/>
              </a:rPr>
              <a:t>IMPACT AND BENEFITS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175" y="1446675"/>
            <a:ext cx="11274600" cy="1234500"/>
          </a:xfrm>
          <a:prstGeom prst="roundRect">
            <a:avLst>
              <a:gd fmla="val 5926" name="adj"/>
            </a:avLst>
          </a:prstGeom>
          <a:solidFill>
            <a:srgbClr val="14140F"/>
          </a:solidFill>
          <a:ln cap="flat" cmpd="sng" w="9525">
            <a:solidFill>
              <a:srgbClr val="141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457175" y="1702707"/>
            <a:ext cx="375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2000"/>
              <a:buFont typeface="Cambria"/>
              <a:buNone/>
            </a:pPr>
            <a:r>
              <a:rPr b="1" i="0" lang="en-US" sz="2300" u="none" cap="none" strike="noStrike">
                <a:solidFill>
                  <a:srgbClr val="8A5A12"/>
                </a:solidFill>
                <a:latin typeface="Cambria"/>
                <a:ea typeface="Cambria"/>
                <a:cs typeface="Cambria"/>
                <a:sym typeface="Cambria"/>
              </a:rPr>
              <a:t>72h  </a:t>
            </a:r>
            <a:r>
              <a:rPr b="0" i="0" lang="en-US" sz="19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1" i="0" lang="en-US" sz="2700" u="none" cap="none" strike="noStrike">
                <a:solidFill>
                  <a:srgbClr val="21603F"/>
                </a:solidFill>
                <a:latin typeface="Cambria"/>
                <a:ea typeface="Cambria"/>
                <a:cs typeface="Cambria"/>
                <a:sym typeface="Cambria"/>
              </a:rPr>
              <a:t>1.2s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457175" y="2251347"/>
            <a:ext cx="375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5C9"/>
              </a:buClr>
              <a:buSzPts val="850"/>
              <a:buFont typeface="Calibri"/>
              <a:buNone/>
            </a:pPr>
            <a:r>
              <a:rPr b="0" i="0" lang="en-US" sz="1150" u="none" cap="none" strike="noStrike">
                <a:solidFill>
                  <a:srgbClr val="D8D5C9"/>
                </a:solidFill>
                <a:latin typeface="Calibri"/>
                <a:ea typeface="Calibri"/>
                <a:cs typeface="Calibri"/>
                <a:sym typeface="Calibri"/>
              </a:rPr>
              <a:t>ATTRIBUTION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4215359" y="1702707"/>
            <a:ext cx="375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2000"/>
              <a:buFont typeface="Cambria"/>
              <a:buNone/>
            </a:pPr>
            <a:r>
              <a:rPr b="1" i="0" lang="en-US" sz="2300" u="none" cap="none" strike="noStrike">
                <a:solidFill>
                  <a:srgbClr val="8A5A12"/>
                </a:solidFill>
                <a:latin typeface="Cambria"/>
                <a:ea typeface="Cambria"/>
                <a:cs typeface="Cambria"/>
                <a:sym typeface="Cambria"/>
              </a:rPr>
              <a:t>&lt;10%  </a:t>
            </a:r>
            <a:r>
              <a:rPr b="0" i="0" lang="en-US" sz="19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1" i="0" lang="en-US" sz="2700" u="none" cap="none" strike="noStrike">
                <a:solidFill>
                  <a:srgbClr val="21603F"/>
                </a:solidFill>
                <a:latin typeface="Cambria"/>
                <a:ea typeface="Cambria"/>
                <a:cs typeface="Cambria"/>
                <a:sym typeface="Cambria"/>
              </a:rPr>
              <a:t>87.4%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4215359" y="2251347"/>
            <a:ext cx="375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5C9"/>
              </a:buClr>
              <a:buSzPts val="850"/>
              <a:buFont typeface="Calibri"/>
              <a:buNone/>
            </a:pPr>
            <a:r>
              <a:rPr b="0" i="0" lang="en-US" sz="1150" u="none" cap="none" strike="noStrike">
                <a:solidFill>
                  <a:srgbClr val="D8D5C9"/>
                </a:solidFill>
                <a:latin typeface="Calibri"/>
                <a:ea typeface="Calibri"/>
                <a:cs typeface="Calibri"/>
                <a:sym typeface="Calibri"/>
              </a:rPr>
              <a:t>FREEZE RATE (GOLDEN HOUR)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7973543" y="1702707"/>
            <a:ext cx="375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2000"/>
              <a:buFont typeface="Cambria"/>
              <a:buNone/>
            </a:pPr>
            <a:r>
              <a:rPr b="1" i="0" lang="en-US" sz="2300" u="none" cap="none" strike="noStrike">
                <a:solidFill>
                  <a:srgbClr val="8A5A12"/>
                </a:solidFill>
                <a:latin typeface="Cambria"/>
                <a:ea typeface="Cambria"/>
                <a:cs typeface="Cambria"/>
                <a:sym typeface="Cambria"/>
              </a:rPr>
              <a:t>—  </a:t>
            </a:r>
            <a:r>
              <a:rPr b="0" i="0" lang="en-US" sz="1900" u="none" cap="none" strike="noStrike">
                <a:solidFill>
                  <a:srgbClr val="8A8578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1" i="0" lang="en-US" sz="2700" u="none" cap="none" strike="noStrike">
                <a:solidFill>
                  <a:srgbClr val="21603F"/>
                </a:solidFill>
                <a:latin typeface="Cambria"/>
                <a:ea typeface="Cambria"/>
                <a:cs typeface="Cambria"/>
                <a:sym typeface="Cambria"/>
              </a:rPr>
              <a:t>₹12,12,500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7973543" y="2251347"/>
            <a:ext cx="375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5C9"/>
              </a:buClr>
              <a:buSzPts val="850"/>
              <a:buFont typeface="Calibri"/>
              <a:buNone/>
            </a:pPr>
            <a:r>
              <a:rPr b="0" i="0" lang="en-US" sz="1150" u="none" cap="none" strike="noStrike">
                <a:solidFill>
                  <a:srgbClr val="D8D5C9"/>
                </a:solidFill>
                <a:latin typeface="Calibri"/>
                <a:ea typeface="Calibri"/>
                <a:cs typeface="Calibri"/>
                <a:sym typeface="Calibri"/>
              </a:rPr>
              <a:t>TRACED IN DEMO (142 DOCKETS)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57175" y="2818275"/>
            <a:ext cx="5532000" cy="18744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640055" y="2891427"/>
            <a:ext cx="457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85775" y="3321195"/>
            <a:ext cx="1508700" cy="77730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5875">
            <a:solidFill>
              <a:srgbClr val="223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685775" y="3321195"/>
            <a:ext cx="1508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React (Vercel)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2194535" y="3321195"/>
            <a:ext cx="320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2514575" y="3321195"/>
            <a:ext cx="1508700" cy="777300"/>
          </a:xfrm>
          <a:prstGeom prst="roundRect">
            <a:avLst>
              <a:gd fmla="val 7059" name="adj"/>
            </a:avLst>
          </a:prstGeom>
          <a:solidFill>
            <a:srgbClr val="223354"/>
          </a:solidFill>
          <a:ln cap="flat" cmpd="sng" w="15875">
            <a:solidFill>
              <a:srgbClr val="2233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2514575" y="3321195"/>
            <a:ext cx="1508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(Render)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4023335" y="3321195"/>
            <a:ext cx="320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343375" y="3321195"/>
            <a:ext cx="1508700" cy="777300"/>
          </a:xfrm>
          <a:prstGeom prst="roundRect">
            <a:avLst>
              <a:gd fmla="val 7059" name="adj"/>
            </a:avLst>
          </a:prstGeom>
          <a:solidFill>
            <a:srgbClr val="21603F"/>
          </a:solidFill>
          <a:ln cap="flat" cmpd="sng" w="15875">
            <a:solidFill>
              <a:srgbClr val="2160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4343375" y="3321195"/>
            <a:ext cx="1508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 APIs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MOCK fallback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85775" y="4189875"/>
            <a:ext cx="4480500" cy="219600"/>
          </a:xfrm>
          <a:prstGeom prst="roundRect">
            <a:avLst>
              <a:gd fmla="val 50000" name="adj"/>
            </a:avLst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685775" y="4189875"/>
            <a:ext cx="4480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680"/>
              <a:buFont typeface="Calibri"/>
              <a:buNone/>
            </a:pPr>
            <a:r>
              <a:rPr b="1" i="0" lang="en-US" sz="98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5/SEC ETHERSCAN LIMIT RESPECTED — 0.3S SLEEP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685775" y="4500771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760"/>
              <a:buFont typeface="Calibri"/>
              <a:buNone/>
            </a:pPr>
            <a:r>
              <a:rPr b="0" i="0" lang="en-US" sz="106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ENV secrets: ETHERSCAN_API_KEY, CYCLOPS_AUTH_SECRET · no DB, 5GB log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199607" y="2818275"/>
            <a:ext cx="5532000" cy="18744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6382487" y="2891427"/>
            <a:ext cx="457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COST / BENEFIT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7"/>
          <p:cNvGraphicFramePr/>
          <p:nvPr/>
        </p:nvGraphicFramePr>
        <p:xfrm>
          <a:off x="6382487" y="31840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{812A2092-16B7-4E42-838D-CF28E8C01E30}</a:tableStyleId>
              </a:tblPr>
              <a:tblGrid>
                <a:gridCol w="914400"/>
                <a:gridCol w="4251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354"/>
                        </a:buClr>
                        <a:buSzPts val="860"/>
                        <a:buFont typeface="Calibri"/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2233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</a:t>
                      </a:r>
                      <a:endParaRPr sz="116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860"/>
                        <a:buFont typeface="Calibri"/>
                        <a:buNone/>
                      </a:pPr>
                      <a:r>
                        <a:rPr lang="en-US" sz="116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new infra — APIs on free tier</a:t>
                      </a:r>
                      <a:endParaRPr sz="116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3354"/>
                        </a:buClr>
                        <a:buSzPts val="860"/>
                        <a:buFont typeface="Calibri"/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22335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</a:t>
                      </a:r>
                      <a:endParaRPr sz="116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860"/>
                        <a:buFont typeface="Calibri"/>
                        <a:buNone/>
                      </a:pPr>
                      <a:r>
                        <a:rPr lang="en-US" sz="116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₹82/USDT rate, ₹2.5L/ETH (already in app)</a:t>
                      </a:r>
                      <a:endParaRPr sz="116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603F"/>
                        </a:buClr>
                        <a:buSzPts val="860"/>
                        <a:buFont typeface="Calibri"/>
                        <a:buNone/>
                      </a:pPr>
                      <a:r>
                        <a:rPr b="1" lang="en-US" sz="1160" u="none" cap="none" strike="noStrike">
                          <a:solidFill>
                            <a:srgbClr val="2160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Benefit</a:t>
                      </a:r>
                      <a:endParaRPr sz="116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860"/>
                        <a:buFont typeface="Calibri"/>
                        <a:buNone/>
                      </a:pPr>
                      <a:r>
                        <a:rPr lang="en-US" sz="116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₹48,87,500 traced in demo (142 dockets)</a:t>
                      </a:r>
                      <a:endParaRPr sz="116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3" name="Google Shape;283;p7"/>
          <p:cNvSpPr/>
          <p:nvPr/>
        </p:nvSpPr>
        <p:spPr>
          <a:xfrm>
            <a:off x="457175" y="4875675"/>
            <a:ext cx="112746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640055" y="4948827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2"/>
              </a:buClr>
              <a:buSzPts val="850"/>
              <a:buFont typeface="Calibri"/>
              <a:buNone/>
            </a:pPr>
            <a:r>
              <a:rPr b="1" i="0" lang="en-US" sz="1150" u="none" cap="none" strike="noStrike">
                <a:solidFill>
                  <a:srgbClr val="4A4A42"/>
                </a:solidFill>
                <a:latin typeface="Calibri"/>
                <a:ea typeface="Calibri"/>
                <a:cs typeface="Calibri"/>
                <a:sym typeface="Calibri"/>
              </a:rPr>
              <a:t>VIABILITY MATRIX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640055" y="5223147"/>
            <a:ext cx="339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LEGAL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 txBox="1"/>
          <p:nvPr/>
        </p:nvSpPr>
        <p:spPr>
          <a:xfrm>
            <a:off x="640055" y="5424315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859511" y="5424315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Sec.91 CrPC / BNSS 2023 template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640055" y="5643771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859511" y="5643771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SHA256 tamper-proof verification hash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640055" y="5863227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859511" y="5863227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Proves ledger, not guilt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4398239" y="5223147"/>
            <a:ext cx="339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8A5A12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4398239" y="5424315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8A5A1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4617695" y="5424315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Zero new infrastructure required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4398239" y="5643771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8A5A1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4617695" y="5643771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Tron USDT ₹82, ETH ₹2.5L rates live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4398239" y="5863227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8A5A1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4617695" y="5863227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FIU-IND status already tracked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8156423" y="5223147"/>
            <a:ext cx="339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8156423" y="5424315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8375879" y="5424315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30 VASPs today → 300 by config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8156423" y="5643771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8375879" y="5643771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addr → name/tag/compliance_contact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8156423" y="5863227"/>
            <a:ext cx="201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780"/>
              <a:buFont typeface="Calibri"/>
              <a:buNone/>
            </a:pPr>
            <a:r>
              <a:rPr b="1" i="0" lang="en-US" sz="108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8375879" y="5863227"/>
            <a:ext cx="308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0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5-min cache holds at higher volume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365760" y="201168"/>
            <a:ext cx="310800" cy="310800"/>
          </a:xfrm>
          <a:prstGeom prst="ellipse">
            <a:avLst/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421721" y="300655"/>
            <a:ext cx="198900" cy="111900"/>
          </a:xfrm>
          <a:prstGeom prst="ellipse">
            <a:avLst/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83900" y="309982"/>
            <a:ext cx="74700" cy="93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786384" y="201168"/>
            <a:ext cx="2514600" cy="310800"/>
          </a:xfrm>
          <a:prstGeom prst="roundRect">
            <a:avLst>
              <a:gd fmla="val 50000" name="adj"/>
            </a:avLst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786384" y="201168"/>
            <a:ext cx="251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CYCLOPS · SIH26183 · CRYSEC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5486" y="201175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TextBox 311"/>
          <p:cNvSpPr txBox="1"/>
          <p:nvPr/>
        </p:nvSpPr>
        <p:spPr>
          <a:xfrm>
            <a:off x="457200" y="2596896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sz="600" i="1">
                <a:solidFill>
                  <a:srgbClr val="8A867A"/>
                </a:solidFill>
                <a:latin typeface="Calibri"/>
              </a:rPr>
              <a:t>Projected improvement based on system design; pilot metrics pending live deployment.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457200" y="1143000"/>
            <a:ext cx="11274552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8A867A"/>
                </a:solidFill>
                <a:latin typeface="Calibri"/>
              </a:rPr>
              <a:t>Potential impact on the target audience  ·  Benefits of the solution (social, economic, legal)  ·  Now with trained ML: 87.4% freeze → higher with RF confidence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EC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"/>
          <p:cNvSpPr txBox="1"/>
          <p:nvPr/>
        </p:nvSpPr>
        <p:spPr>
          <a:xfrm>
            <a:off x="457200" y="532557"/>
            <a:ext cx="112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2400"/>
              <a:buFont typeface="Cambria"/>
              <a:buNone/>
            </a:pPr>
            <a:r>
              <a:rPr sz="1400" b="1">
                <a:solidFill>
                  <a:srgbClr val="14140F"/>
                </a:solidFill>
                <a:latin typeface="Cambria"/>
              </a:rPr>
              <a:t>RESEARCH  AND  REFERENCES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57200" y="1145205"/>
            <a:ext cx="2709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57200" y="1145205"/>
            <a:ext cx="73200" cy="960000"/>
          </a:xfrm>
          <a:prstGeom prst="rect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640080" y="1236645"/>
            <a:ext cx="24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STANDARDS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640080" y="1510965"/>
            <a:ext cx="243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60"/>
              <a:buFont typeface="Calibri"/>
              <a:buNone/>
            </a:pPr>
            <a:r>
              <a:rPr b="0" i="0" lang="en-US" sz="11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CrPC Sec.91 / BNSS 2023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60"/>
              <a:buFont typeface="Calibri"/>
              <a:buNone/>
            </a:pPr>
            <a:r>
              <a:rPr b="0" i="0" lang="en-US" sz="11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FIU-IND VASP guidelines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3312414" y="1145205"/>
            <a:ext cx="2709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3312414" y="1145205"/>
            <a:ext cx="73200" cy="960000"/>
          </a:xfrm>
          <a:prstGeom prst="rect">
            <a:avLst/>
          </a:prstGeom>
          <a:solidFill>
            <a:srgbClr val="2160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3495294" y="1236645"/>
            <a:ext cx="24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603F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21603F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3495294" y="1510965"/>
            <a:ext cx="243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60"/>
              <a:buFont typeface="Calibri"/>
              <a:buNone/>
            </a:pPr>
            <a:r>
              <a:rPr b="0" i="0" lang="en-US" sz="11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Etherscan V2 docs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60"/>
              <a:buFont typeface="Calibri"/>
              <a:buNone/>
            </a:pPr>
            <a:r>
              <a:rPr b="0" i="0" lang="en-US" sz="11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TronGrid · Blockstream Esplora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6167628" y="1145205"/>
            <a:ext cx="2709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6167628" y="1145205"/>
            <a:ext cx="73200" cy="960000"/>
          </a:xfrm>
          <a:prstGeom prst="rect">
            <a:avLst/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6350508" y="1236645"/>
            <a:ext cx="24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A8391C"/>
                </a:solidFill>
                <a:latin typeface="Calibri"/>
                <a:ea typeface="Calibri"/>
                <a:cs typeface="Calibri"/>
                <a:sym typeface="Calibri"/>
              </a:rPr>
              <a:t>CRYPTO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6350508" y="1510965"/>
            <a:ext cx="243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60"/>
              <a:buFont typeface="Calibri"/>
              <a:buNone/>
            </a:pPr>
            <a:r>
              <a:rPr b="0" i="0" lang="en-US" sz="11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Tornado Cash sanctions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60"/>
              <a:buFont typeface="Calibri"/>
              <a:buNone/>
            </a:pPr>
            <a:r>
              <a:rPr b="0" i="0" lang="en-US" sz="11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Polygon Bridge docs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9022842" y="1145205"/>
            <a:ext cx="2709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9022842" y="1145205"/>
            <a:ext cx="73200" cy="960000"/>
          </a:xfrm>
          <a:prstGeom prst="rect">
            <a:avLst/>
          </a:prstGeom>
          <a:solidFill>
            <a:srgbClr val="8A5A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9205722" y="1236645"/>
            <a:ext cx="24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A12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8A5A12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9205722" y="1510965"/>
            <a:ext cx="243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60"/>
              <a:buFont typeface="Calibri"/>
              <a:buNone/>
            </a:pPr>
            <a:r>
              <a:rPr b="0" i="0" lang="en-US" sz="11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Cytoscape.js · ReportLab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60"/>
              <a:buFont typeface="Calibri"/>
              <a:buNone/>
            </a:pPr>
            <a:r>
              <a:rPr b="0" i="0" lang="en-US" sz="116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OWASP secure headers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8"/>
          <p:cNvGraphicFramePr/>
          <p:nvPr/>
        </p:nvGraphicFramePr>
        <p:xfrm>
          <a:off x="457200" y="2242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{812A2092-16B7-4E42-838D-CF28E8C01E30}</a:tableStyleId>
              </a:tblPr>
              <a:tblGrid>
                <a:gridCol w="457200"/>
                <a:gridCol w="5486400"/>
                <a:gridCol w="53309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REFERENCE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WE USED IT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Etherscan API V2 docs (chainid=1, txlist+tokentx)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 ETH + ERC-20 ingestion, now V2 after V1 deprecation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TronGrid API (TRC20)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Low-gas USDT trail — Tron is ~40% of Indian scam reports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Blockstream Esplora API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Keyless BTC UTXO ingestion, no API key needed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FIU-IND VASP Registration List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Ground-truth for CoinDCX, WazirX, CoinSwitch FIU status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CrPC Sec.91 / BNSS 2023 Sec.94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Statutory backing for Sec.91 notice template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OWASP Secure Headers (CSP, HSTS, nosniff)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CSP nonce + HSTS, rate-limit, sanitization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Cytoscape.js docs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Graph canvas — preset layout, hover dim, animated dash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ReportLab docs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Court dossier PDF, Indian INR grouping, ₹ glyph handling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NCRP / I4C (1930)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Citizen → docket → Golden Hour flow, operational pan-India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0F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41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live_sample.json (/api/dataset/live-sample)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42"/>
                        </a:buClr>
                        <a:buSzPts val="7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4A4A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Offline-verifiable provenance: 20 ETH + 5 BTC, sha256 hash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8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5" name="Google Shape;335;p8"/>
          <p:cNvSpPr/>
          <p:nvPr/>
        </p:nvSpPr>
        <p:spPr>
          <a:xfrm>
            <a:off x="457200" y="2242485"/>
            <a:ext cx="11274600" cy="237600"/>
          </a:xfrm>
          <a:prstGeom prst="rect">
            <a:avLst/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6" name="Google Shape;336;p8"/>
          <p:cNvGraphicFramePr/>
          <p:nvPr/>
        </p:nvGraphicFramePr>
        <p:xfrm>
          <a:off x="457200" y="2242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{812A2092-16B7-4E42-838D-CF28E8C01E30}</a:tableStyleId>
              </a:tblPr>
              <a:tblGrid>
                <a:gridCol w="457200"/>
                <a:gridCol w="5486400"/>
                <a:gridCol w="53309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REFERENCE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WE USED IT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0F"/>
                    </a:solidFill>
                  </a:tcPr>
                </a:tc>
              </a:tr>
            </a:tbl>
          </a:graphicData>
        </a:graphic>
      </p:graphicFrame>
      <p:sp>
        <p:nvSpPr>
          <p:cNvPr id="337" name="Google Shape;337;p8"/>
          <p:cNvSpPr/>
          <p:nvPr/>
        </p:nvSpPr>
        <p:spPr>
          <a:xfrm>
            <a:off x="457200" y="5168565"/>
            <a:ext cx="5532000" cy="15087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640080" y="5260005"/>
            <a:ext cx="512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850"/>
              <a:buFont typeface="Calibri"/>
              <a:buNone/>
            </a:pPr>
            <a:r>
              <a:rPr b="1" i="0" lang="en-US" sz="125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RESEARCH PROCESS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640080" y="5534325"/>
            <a:ext cx="20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780"/>
              <a:buFont typeface="Calibri"/>
              <a:buNone/>
            </a:pPr>
            <a:r>
              <a:rPr b="1" i="0" lang="en-US" sz="118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859536" y="5534325"/>
            <a:ext cx="490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1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scripts/ingest_sample.py: 5 targets, 5/sec limit, txlist+tokentx fallback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640080" y="5826933"/>
            <a:ext cx="20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780"/>
              <a:buFont typeface="Calibri"/>
              <a:buNone/>
            </a:pPr>
            <a:r>
              <a:rPr b="1" i="0" lang="en-US" sz="118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859536" y="5826933"/>
            <a:ext cx="490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1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Writes live_sample.json + sample_provenance.json (verified_at, sha256[:16])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640080" y="6119541"/>
            <a:ext cx="20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54"/>
              </a:buClr>
              <a:buSzPts val="780"/>
              <a:buFont typeface="Calibri"/>
              <a:buNone/>
            </a:pPr>
            <a:r>
              <a:rPr b="1" i="0" lang="en-US" sz="1180" u="none" cap="none" strike="noStrike">
                <a:solidFill>
                  <a:srgbClr val="22335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859536" y="6119541"/>
            <a:ext cx="490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1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Mock stays primary; live sample is thin verification, not replacement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6199632" y="5168565"/>
            <a:ext cx="5532000" cy="15087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9525">
            <a:solidFill>
              <a:srgbClr val="DC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6382512" y="5260005"/>
            <a:ext cx="512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850"/>
              <a:buFont typeface="Calibri"/>
              <a:buNone/>
            </a:pPr>
            <a:r>
              <a:rPr b="1" i="0" lang="en-US" sz="1250" u="none" cap="none" strike="noStrike">
                <a:solidFill>
                  <a:srgbClr val="A8391C"/>
                </a:solidFill>
                <a:latin typeface="Calibri"/>
                <a:ea typeface="Calibri"/>
                <a:cs typeface="Calibri"/>
                <a:sym typeface="Calibri"/>
              </a:rPr>
              <a:t>LIMITATIONS &amp; NEXT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6382512" y="5534325"/>
            <a:ext cx="20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780"/>
              <a:buFont typeface="Calibri"/>
              <a:buNone/>
            </a:pPr>
            <a:r>
              <a:rPr b="1" i="0" lang="en-US" sz="1180" u="none" cap="none" strike="noStrike">
                <a:solidFill>
                  <a:srgbClr val="A8391C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 txBox="1"/>
          <p:nvPr/>
        </p:nvSpPr>
        <p:spPr>
          <a:xfrm>
            <a:off x="6601968" y="5534325"/>
            <a:ext cx="490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60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ML now trained: RandomForest 98.6% (was heuristic) — registry 30→300 by config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 txBox="1"/>
          <p:nvPr/>
        </p:nvSpPr>
        <p:spPr>
          <a:xfrm>
            <a:off x="6382512" y="5826933"/>
            <a:ext cx="20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780"/>
              <a:buFont typeface="Calibri"/>
              <a:buNone/>
            </a:pPr>
            <a:r>
              <a:rPr b="1" i="0" lang="en-US" sz="1180" u="none" cap="none" strike="noStrike">
                <a:solidFill>
                  <a:srgbClr val="A8391C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 txBox="1"/>
          <p:nvPr/>
        </p:nvSpPr>
        <p:spPr>
          <a:xfrm>
            <a:off x="6601968" y="5826933"/>
            <a:ext cx="490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1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Sec.91 output is a template — legal review still required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 txBox="1"/>
          <p:nvPr/>
        </p:nvSpPr>
        <p:spPr>
          <a:xfrm>
            <a:off x="6382512" y="6119541"/>
            <a:ext cx="20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391C"/>
              </a:buClr>
              <a:buSzPts val="780"/>
              <a:buFont typeface="Calibri"/>
              <a:buNone/>
            </a:pPr>
            <a:r>
              <a:rPr b="1" i="0" lang="en-US" sz="1180" u="none" cap="none" strike="noStrike">
                <a:solidFill>
                  <a:srgbClr val="A8391C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 txBox="1"/>
          <p:nvPr/>
        </p:nvSpPr>
        <p:spPr>
          <a:xfrm>
            <a:off x="6601968" y="6119541"/>
            <a:ext cx="490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0F"/>
              </a:buClr>
              <a:buSzPts val="780"/>
              <a:buFont typeface="Calibri"/>
              <a:buNone/>
            </a:pPr>
            <a:r>
              <a:rPr b="0" i="0" lang="en-US" sz="1180" u="none" cap="none" strike="noStrike">
                <a:solidFill>
                  <a:srgbClr val="14140F"/>
                </a:solidFill>
                <a:latin typeface="Calibri"/>
                <a:ea typeface="Calibri"/>
                <a:cs typeface="Calibri"/>
                <a:sym typeface="Calibri"/>
              </a:rPr>
              <a:t>We prove ledger, not guilt; recovery is for the VASP and court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365760" y="201168"/>
            <a:ext cx="310800" cy="310800"/>
          </a:xfrm>
          <a:prstGeom prst="ellipse">
            <a:avLst/>
          </a:prstGeom>
          <a:solidFill>
            <a:srgbClr val="141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21721" y="300655"/>
            <a:ext cx="198900" cy="111900"/>
          </a:xfrm>
          <a:prstGeom prst="ellipse">
            <a:avLst/>
          </a:prstGeom>
          <a:solidFill>
            <a:srgbClr val="F4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83900" y="309982"/>
            <a:ext cx="74700" cy="93300"/>
          </a:xfrm>
          <a:prstGeom prst="ellipse">
            <a:avLst/>
          </a:prstGeom>
          <a:solidFill>
            <a:srgbClr val="2233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786384" y="201168"/>
            <a:ext cx="2514600" cy="310800"/>
          </a:xfrm>
          <a:prstGeom prst="roundRect">
            <a:avLst>
              <a:gd fmla="val 50000" name="adj"/>
            </a:avLst>
          </a:prstGeom>
          <a:solidFill>
            <a:srgbClr val="A839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 txBox="1"/>
          <p:nvPr/>
        </p:nvSpPr>
        <p:spPr>
          <a:xfrm>
            <a:off x="786384" y="201168"/>
            <a:ext cx="251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CYCLOPS · SIH26183 · CRYSEC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5486" y="201175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TextBox 358"/>
          <p:cNvSpPr txBox="1"/>
          <p:nvPr/>
        </p:nvSpPr>
        <p:spPr>
          <a:xfrm>
            <a:off x="457200" y="4956048"/>
            <a:ext cx="1127455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550" i="1">
                <a:solidFill>
                  <a:srgbClr val="4A4A42"/>
                </a:solidFill>
                <a:latin typeface="Calibri"/>
              </a:rPr>
              <a:t>11  scikit-learn RandomForest (150 trees, 9 features) — trained ML, 98.6% test acc, models/cyclops_rf.pkl   |   12  pandas + numpy — feature engineering (holding velocity, sweep, peel, degree)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cp:lastModifiedBy>python-pptx</cp:lastModifiedBy>
  <cp:revision>1</cp:revision>
  <dcterms:modified xsi:type="dcterms:W3CDTF">2026-09-29T17:05:12Z</dcterms:modified>
  <cp:version>v6.3</cp:version>
  <dc:description>v6.3 TRAINED — format compliant (SIH2026-IDEA-Presentation-Format) + RF 98.6%</dc:description>
</cp:coreProperties>
</file>